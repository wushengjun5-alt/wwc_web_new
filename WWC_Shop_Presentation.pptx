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07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engjun WU (BFR)" userId="530e4028-2bcf-496d-899c-f2e3971a8c59" providerId="ADAL" clId="{5DC3F667-95AF-4685-966B-2E9B34E4467D}"/>
    <pc:docChg chg="custSel modSld">
      <pc:chgData name="Shengjun WU (BFR)" userId="530e4028-2bcf-496d-899c-f2e3971a8c59" providerId="ADAL" clId="{5DC3F667-95AF-4685-966B-2E9B34E4467D}" dt="2026-03-22T22:38:52.299" v="0" actId="478"/>
      <pc:docMkLst>
        <pc:docMk/>
      </pc:docMkLst>
      <pc:sldChg chg="delSp mod">
        <pc:chgData name="Shengjun WU (BFR)" userId="530e4028-2bcf-496d-899c-f2e3971a8c59" providerId="ADAL" clId="{5DC3F667-95AF-4685-966B-2E9B34E4467D}" dt="2026-03-22T22:38:52.299" v="0" actId="478"/>
        <pc:sldMkLst>
          <pc:docMk/>
          <pc:sldMk cId="0" sldId="256"/>
        </pc:sldMkLst>
        <pc:spChg chg="del">
          <ac:chgData name="Shengjun WU (BFR)" userId="530e4028-2bcf-496d-899c-f2e3971a8c59" providerId="ADAL" clId="{5DC3F667-95AF-4685-966B-2E9B34E4467D}" dt="2026-03-22T22:38:52.299" v="0" actId="478"/>
          <ac:spMkLst>
            <pc:docMk/>
            <pc:sldMk cId="0" sldId="256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88952" cy="109728"/>
          </a:xfrm>
          <a:prstGeom prst="rect">
            <a:avLst/>
          </a:prstGeom>
          <a:solidFill>
            <a:srgbClr val="E04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0" i="0">
                <a:solidFill>
                  <a:srgbClr val="FFFFFF"/>
                </a:solidFill>
              </a:rPr>
              <a:t>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Wallah We 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48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E04403"/>
                </a:solidFill>
              </a:rPr>
              <a:t>GreenSchool E-Commerce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Project Status · User Guide · Roadmap for Completion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94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March 2026  |  Confidential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Wallah We Can – GreenSchool E-Commerce Platform  | 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73152"/>
          </a:xfrm>
          <a:prstGeom prst="rect">
            <a:avLst/>
          </a:prstGeom>
          <a:solidFill>
            <a:srgbClr val="E04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What we will cover in this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577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502920" cy="1005840"/>
          </a:xfrm>
          <a:prstGeom prst="rect">
            <a:avLst/>
          </a:prstGeom>
          <a:solidFill>
            <a:srgbClr val="E04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02336" y="18105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645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345E"/>
                </a:solidFill>
              </a:rPr>
              <a:t>The Mission &amp; Platform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7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What WWC is building and why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743200"/>
            <a:ext cx="5577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2743200"/>
            <a:ext cx="502920" cy="1005840"/>
          </a:xfrm>
          <a:prstGeom prst="rect">
            <a:avLst/>
          </a:prstGeom>
          <a:solidFill>
            <a:srgbClr val="E04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2336" y="29992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834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345E"/>
                </a:solidFill>
              </a:rPr>
              <a:t>What Has Been Built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21868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Complete feature inventory — backend, frontend, admin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931920"/>
            <a:ext cx="5577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3931920"/>
            <a:ext cx="502920" cy="1005840"/>
          </a:xfrm>
          <a:prstGeom prst="rect">
            <a:avLst/>
          </a:prstGeom>
          <a:solidFill>
            <a:srgbClr val="E04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02336" y="41879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02335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345E"/>
                </a:solidFill>
              </a:rPr>
              <a:t>Customer Journey — User Guide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40740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Step-by-step walkthrough for shop visitors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120640"/>
            <a:ext cx="5577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5120640"/>
            <a:ext cx="502920" cy="1005840"/>
          </a:xfrm>
          <a:prstGeom prst="rect">
            <a:avLst/>
          </a:prstGeom>
          <a:solidFill>
            <a:srgbClr val="E04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02336" y="53766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212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345E"/>
                </a:solidFill>
              </a:rPr>
              <a:t>Admin &amp; Operations Guide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59612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How the WWC team manages the shop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1554480"/>
            <a:ext cx="5577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09360" y="1554480"/>
            <a:ext cx="502920" cy="1005840"/>
          </a:xfrm>
          <a:prstGeom prst="rect">
            <a:avLst/>
          </a:prstGeom>
          <a:solidFill>
            <a:srgbClr val="E04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45936" y="18105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1645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345E"/>
                </a:solidFill>
              </a:rPr>
              <a:t>What Is Still Missing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2029967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Honest gap analysis — critical, high, medium priority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2743200"/>
            <a:ext cx="5577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09360" y="2743200"/>
            <a:ext cx="502920" cy="1005840"/>
          </a:xfrm>
          <a:prstGeom prst="rect">
            <a:avLst/>
          </a:prstGeom>
          <a:solidFill>
            <a:srgbClr val="E04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45936" y="29992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2834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345E"/>
                </a:solidFill>
              </a:rPr>
              <a:t>Roadmap for a Third-Party Developer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321868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Phase 3 &amp; 4 tasks with effort estimates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3931920"/>
            <a:ext cx="5577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309360" y="3931920"/>
            <a:ext cx="502920" cy="1005840"/>
          </a:xfrm>
          <a:prstGeom prst="rect">
            <a:avLst/>
          </a:prstGeom>
          <a:solidFill>
            <a:srgbClr val="E04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45936" y="41879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402335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345E"/>
                </a:solidFill>
              </a:rPr>
              <a:t>Technical Handover Notes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440740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Architecture, credentials, key decisions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5120640"/>
            <a:ext cx="5577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309360" y="5120640"/>
            <a:ext cx="502920" cy="1005840"/>
          </a:xfrm>
          <a:prstGeom prst="rect">
            <a:avLst/>
          </a:prstGeom>
          <a:solidFill>
            <a:srgbClr val="E04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45936" y="53766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3720" y="5212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345E"/>
                </a:solidFill>
              </a:rPr>
              <a:t>Recommended Next Steps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03720" y="559612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Immediate actions &amp; partner criteria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7432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Wallah We Can – GreenSchool E-Commerce Platform  |  Confidential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3000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73152"/>
          </a:xfrm>
          <a:prstGeom prst="rect">
            <a:avLst/>
          </a:prstGeom>
          <a:solidFill>
            <a:srgbClr val="E04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Why this platform exists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11430000" cy="100584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109728" cy="1005840"/>
          </a:xfrm>
          <a:prstGeom prst="rect">
            <a:avLst/>
          </a:prstGeom>
          <a:solidFill>
            <a:srgbClr val="E04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600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1">
                <a:solidFill>
                  <a:srgbClr val="FFFFFF"/>
                </a:solidFill>
              </a:rPr>
              <a:t>"Thanks to your purchase, 6 energy bars will be provided to students at Sidi Mechreg."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97480"/>
            <a:ext cx="3657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2697480"/>
            <a:ext cx="3657600" cy="73152"/>
          </a:xfrm>
          <a:prstGeom prst="rect">
            <a:avLst/>
          </a:prstGeom>
          <a:solidFill>
            <a:srgbClr val="E04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28800" y="28346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91919"/>
                </a:solidFill>
              </a:rPr>
              <a:t>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29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345E"/>
                </a:solidFill>
              </a:rPr>
              <a:t>GreenSchool Initiative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8620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Parents of students grow and handcraft products on farms. Every sale directly funds school supplies, meals, and energy bars for their children.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2697480"/>
            <a:ext cx="3657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97680" y="2697480"/>
            <a:ext cx="3657600" cy="73152"/>
          </a:xfrm>
          <a:prstGeom prst="rect">
            <a:avLst/>
          </a:prstGeom>
          <a:solidFill>
            <a:srgbClr val="E04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60720" y="28346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91919"/>
                </a:solidFill>
              </a:rPr>
              <a:t>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429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345E"/>
                </a:solidFill>
              </a:rPr>
              <a:t>The Shop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88620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A full e-commerce platform integrated into the WWC WordPress website. Customers browse, add to cart, and check out — all impact is tracked transparently.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2697480"/>
            <a:ext cx="3657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29600" y="2697480"/>
            <a:ext cx="3657600" cy="73152"/>
          </a:xfrm>
          <a:prstGeom prst="rect">
            <a:avLst/>
          </a:prstGeom>
          <a:solidFill>
            <a:srgbClr val="E04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92640" y="28346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91919"/>
                </a:solidFill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429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345E"/>
                </a:solidFill>
              </a:rPr>
              <a:t>Impact Transparency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88620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Every order generates a real impact record: which school benefited, how many items, funded by which purchase. Customers see their personal impact dashboard.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432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Wallah We Can – GreenSchool E-Commerce Platform  | 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73152"/>
          </a:xfrm>
          <a:prstGeom prst="rect">
            <a:avLst/>
          </a:prstGeom>
          <a:solidFill>
            <a:srgbClr val="E04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Has Been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Complete system overview — Phase 1 &amp; 2 complete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56692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5669280" cy="41148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56362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🗄️ Backend API
(Django 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5303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04040"/>
                </a:solidFill>
              </a:rPr>
              <a:t>✓  14 database models with migrations</a:t>
            </a:r>
          </a:p>
          <a:p>
            <a:r>
              <a:rPr sz="1100">
                <a:solidFill>
                  <a:srgbClr val="404040"/>
                </a:solidFill>
              </a:rPr>
              <a:t>✓  60+ REST API endpoints</a:t>
            </a:r>
          </a:p>
          <a:p>
            <a:r>
              <a:rPr sz="1100">
                <a:solidFill>
                  <a:srgbClr val="404040"/>
                </a:solidFill>
              </a:rPr>
              <a:t>✓  JWT authentication</a:t>
            </a:r>
          </a:p>
          <a:p>
            <a:r>
              <a:rPr sz="1100">
                <a:solidFill>
                  <a:srgbClr val="404040"/>
                </a:solidFill>
              </a:rPr>
              <a:t>✓  Stripe payment integration</a:t>
            </a:r>
          </a:p>
          <a:p>
            <a:r>
              <a:rPr sz="1100">
                <a:solidFill>
                  <a:srgbClr val="404040"/>
                </a:solidFill>
              </a:rPr>
              <a:t>✓  Order email notifications</a:t>
            </a:r>
          </a:p>
          <a:p>
            <a:r>
              <a:rPr sz="1100">
                <a:solidFill>
                  <a:srgbClr val="404040"/>
                </a:solidFill>
              </a:rPr>
              <a:t>✓  Admin API (key-protected)</a:t>
            </a:r>
          </a:p>
          <a:p>
            <a:r>
              <a:rPr sz="1100">
                <a:solidFill>
                  <a:srgbClr val="404040"/>
                </a:solidFill>
              </a:rPr>
              <a:t>✓  Stock &amp; impact tracking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56692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508760"/>
            <a:ext cx="5669280" cy="411480"/>
          </a:xfrm>
          <a:prstGeom prst="rect">
            <a:avLst/>
          </a:prstGeom>
          <a:solidFill>
            <a:srgbClr val="E04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56362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🌐 Customer Frontend
(Standalone HTML)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80"/>
            <a:ext cx="5303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04040"/>
                </a:solidFill>
              </a:rPr>
              <a:t>✓  Product catalogue &amp; search</a:t>
            </a:r>
          </a:p>
          <a:p>
            <a:r>
              <a:rPr sz="1100">
                <a:solidFill>
                  <a:srgbClr val="404040"/>
                </a:solidFill>
              </a:rPr>
              <a:t>✓  Product detail + reviews</a:t>
            </a:r>
          </a:p>
          <a:p>
            <a:r>
              <a:rPr sz="1100">
                <a:solidFill>
                  <a:srgbClr val="404040"/>
                </a:solidFill>
              </a:rPr>
              <a:t>✓  Shopping cart (guest &amp; logged-in)</a:t>
            </a:r>
          </a:p>
          <a:p>
            <a:r>
              <a:rPr sz="1100">
                <a:solidFill>
                  <a:srgbClr val="404040"/>
                </a:solidFill>
              </a:rPr>
              <a:t>✓  Full checkout flow</a:t>
            </a:r>
          </a:p>
          <a:p>
            <a:r>
              <a:rPr sz="1100">
                <a:solidFill>
                  <a:srgbClr val="404040"/>
                </a:solidFill>
              </a:rPr>
              <a:t>✓  Order history &amp; tracking</a:t>
            </a:r>
          </a:p>
          <a:p>
            <a:r>
              <a:rPr sz="1100">
                <a:solidFill>
                  <a:srgbClr val="404040"/>
                </a:solidFill>
              </a:rPr>
              <a:t>✓  Wishlist &amp; account settings</a:t>
            </a:r>
          </a:p>
          <a:p>
            <a:r>
              <a:rPr sz="1100">
                <a:solidFill>
                  <a:srgbClr val="404040"/>
                </a:solidFill>
              </a:rPr>
              <a:t>✓  Impact dashboard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23360"/>
            <a:ext cx="56692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4023360"/>
            <a:ext cx="5669280" cy="41148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407822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⚙️ Admin Dashboard
(Standalone HTML)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26280"/>
            <a:ext cx="5303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04040"/>
                </a:solidFill>
              </a:rPr>
              <a:t>✓  KPI overview (sales, orders, impact)</a:t>
            </a:r>
          </a:p>
          <a:p>
            <a:r>
              <a:rPr sz="1100">
                <a:solidFill>
                  <a:srgbClr val="404040"/>
                </a:solidFill>
              </a:rPr>
              <a:t>✓  Product CRUD + image upload</a:t>
            </a:r>
          </a:p>
          <a:p>
            <a:r>
              <a:rPr sz="1100">
                <a:solidFill>
                  <a:srgbClr val="404040"/>
                </a:solidFill>
              </a:rPr>
              <a:t>✓  Category &amp; producer management</a:t>
            </a:r>
          </a:p>
          <a:p>
            <a:r>
              <a:rPr sz="1100">
                <a:solidFill>
                  <a:srgbClr val="404040"/>
                </a:solidFill>
              </a:rPr>
              <a:t>✓  Order status &amp; tracking updates</a:t>
            </a:r>
          </a:p>
          <a:p>
            <a:r>
              <a:rPr sz="1100">
                <a:solidFill>
                  <a:srgbClr val="404040"/>
                </a:solidFill>
              </a:rPr>
              <a:t>✓  Customer list &amp; details</a:t>
            </a:r>
          </a:p>
          <a:p>
            <a:r>
              <a:rPr sz="1100">
                <a:solidFill>
                  <a:srgbClr val="404040"/>
                </a:solidFill>
              </a:rPr>
              <a:t>✓  Donation management</a:t>
            </a:r>
          </a:p>
          <a:p>
            <a:r>
              <a:rPr sz="1100">
                <a:solidFill>
                  <a:srgbClr val="404040"/>
                </a:solidFill>
              </a:rPr>
              <a:t>✓  Coupon management (UI ready)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023360"/>
            <a:ext cx="56692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4023360"/>
            <a:ext cx="5669280" cy="4114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407822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🔌 WordPress Plugin
(PHP)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526280"/>
            <a:ext cx="5303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04040"/>
                </a:solidFill>
              </a:rPr>
              <a:t>✓  Shortcodes for all pages</a:t>
            </a:r>
          </a:p>
          <a:p>
            <a:r>
              <a:rPr sz="1100">
                <a:solidFill>
                  <a:srgbClr val="404040"/>
                </a:solidFill>
              </a:rPr>
              <a:t>✓  API client with 5-min cache</a:t>
            </a:r>
          </a:p>
          <a:p>
            <a:r>
              <a:rPr sz="1100">
                <a:solidFill>
                  <a:srgbClr val="404040"/>
                </a:solidFill>
              </a:rPr>
              <a:t>✓  Cart AJAX handlers</a:t>
            </a:r>
          </a:p>
          <a:p>
            <a:r>
              <a:rPr sz="1100">
                <a:solidFill>
                  <a:srgbClr val="404040"/>
                </a:solidFill>
              </a:rPr>
              <a:t>✓  Checkout &amp; shipping logic</a:t>
            </a:r>
          </a:p>
          <a:p>
            <a:r>
              <a:rPr sz="1100">
                <a:solidFill>
                  <a:srgbClr val="404040"/>
                </a:solidFill>
              </a:rPr>
              <a:t>✓  Auth templates (login/register)</a:t>
            </a:r>
          </a:p>
          <a:p>
            <a:r>
              <a:rPr sz="1100">
                <a:solidFill>
                  <a:srgbClr val="404040"/>
                </a:solidFill>
              </a:rPr>
              <a:t>✓  Password reset flow</a:t>
            </a:r>
          </a:p>
          <a:p>
            <a:r>
              <a:rPr sz="1100">
                <a:solidFill>
                  <a:srgbClr val="404040"/>
                </a:solidFill>
              </a:rPr>
              <a:t>✓  Admin product editing in WP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432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Wallah We Can – GreenSchool E-Commerce Platform  |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73152"/>
          </a:xfrm>
          <a:prstGeom prst="rect">
            <a:avLst/>
          </a:prstGeom>
          <a:solidFill>
            <a:srgbClr val="E04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Data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14 database models — all production-ready with migrations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3749039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3749039" cy="384048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79" y="158191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Products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993392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50">
                <a:solidFill>
                  <a:srgbClr val="404040"/>
                </a:solidFill>
              </a:rPr>
              <a:t>📋  Producer — farm producers with bio (FR/EN/AR)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404040"/>
                </a:solidFill>
              </a:rPr>
              <a:t>📋  ProductCategory — 7 categories, hierarchical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404040"/>
                </a:solidFill>
              </a:rPr>
              <a:t>📋  Product — multilingual, dual-currency (TND+EUR), badges, SEO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404040"/>
                </a:solidFill>
              </a:rPr>
              <a:t>📋  ProductImage — multiple images per product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404040"/>
                </a:solidFill>
              </a:rPr>
              <a:t>📋  ComposableBox — 'Build My Box' bundles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404040"/>
                </a:solidFill>
              </a:rPr>
              <a:t>📋  Review — star ratings, moderated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508760"/>
            <a:ext cx="3749039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51959" y="1508760"/>
            <a:ext cx="3749039" cy="384048"/>
          </a:xfrm>
          <a:prstGeom prst="rect">
            <a:avLst/>
          </a:prstGeom>
          <a:solidFill>
            <a:srgbClr val="E04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58191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Orders &amp; Cart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993392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50">
                <a:solidFill>
                  <a:srgbClr val="404040"/>
                </a:solidFill>
              </a:rPr>
              <a:t>📋  Cart / CartItem — guest &amp; logged-in, box support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404040"/>
                </a:solidFill>
              </a:rPr>
              <a:t>📋  Order — full lifecycle: pending→paid→shipped→delivered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404040"/>
                </a:solidFill>
              </a:rPr>
              <a:t>📋  OrderItem — snapshot of product+price at order time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404040"/>
                </a:solidFill>
              </a:rPr>
              <a:t>📋  ImpactEvent — real-world events funded by orders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404040"/>
                </a:solidFill>
              </a:rPr>
              <a:t>📋  PendingCheckout — Stripe pre-payment snapshot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404040"/>
                </a:solidFill>
              </a:rPr>
              <a:t>📋  Coupon — discount codes (model + API ready)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508760"/>
            <a:ext cx="3749039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1508760"/>
            <a:ext cx="3749039" cy="38404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158191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Customers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993392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50">
                <a:solidFill>
                  <a:srgbClr val="404040"/>
                </a:solidFill>
              </a:rPr>
              <a:t>📋  Customer — B2C &amp; B2B profiles, impact stats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404040"/>
                </a:solidFill>
              </a:rPr>
              <a:t>📋  CustomerAddress — multiple saved addresses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404040"/>
                </a:solidFill>
              </a:rPr>
              <a:t>📋  Wishlist — per-customer product wishlist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404040"/>
                </a:solidFill>
              </a:rPr>
              <a:t>  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404040"/>
                </a:solidFill>
              </a:rPr>
              <a:t>  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404040"/>
                </a:solidFill>
              </a:rPr>
              <a:t>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432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Wallah We Can – GreenSchool E-Commerce Platform  | 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73152"/>
          </a:xfrm>
          <a:prstGeom prst="rect">
            <a:avLst/>
          </a:prstGeom>
          <a:solidFill>
            <a:srgbClr val="E04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Customer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The complete shopping experience — step by step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554480"/>
            <a:ext cx="15544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28600" y="1554480"/>
            <a:ext cx="1554480" cy="347472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1572768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04403"/>
                </a:solidFill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116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91919"/>
                </a:solidFill>
              </a:rPr>
              <a:t>🛍️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633472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345E"/>
                </a:solidFill>
              </a:rPr>
              <a:t>Browse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063240"/>
            <a:ext cx="1371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04040"/>
                </a:solidFill>
              </a:rPr>
              <a:t>Visit shop
Explore by
category,
search or
featured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2224" y="320040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92807" y="1554480"/>
            <a:ext cx="15544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892807" y="1554480"/>
            <a:ext cx="1554480" cy="347472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38527" y="1572768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04403"/>
                </a:solidFill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50008" y="20116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91919"/>
                </a:solidFill>
              </a:rPr>
              <a:t>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38527" y="2633472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345E"/>
                </a:solidFill>
              </a:rPr>
              <a:t>Product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84248" y="3063240"/>
            <a:ext cx="1371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04040"/>
                </a:solidFill>
              </a:rPr>
              <a:t>View product
details, images,
ingredients,
impact info,
reviews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6431" y="320040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</a:rPr>
              <a:t>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57015" y="1554480"/>
            <a:ext cx="15544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557015" y="1554480"/>
            <a:ext cx="1554480" cy="347472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02735" y="1572768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04403"/>
                </a:solidFill>
              </a:rPr>
              <a:t>STEP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14215" y="20116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91919"/>
                </a:solidFill>
              </a:rPr>
              <a:t>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02735" y="2633472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345E"/>
                </a:solidFill>
              </a:rPr>
              <a:t>Cart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48456" y="3063240"/>
            <a:ext cx="1371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04040"/>
                </a:solidFill>
              </a:rPr>
              <a:t>Add to cart
Update qty
Apply coupon
See live
impact total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20040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</a:rPr>
              <a:t>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21223" y="1554480"/>
            <a:ext cx="15544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221223" y="1554480"/>
            <a:ext cx="1554480" cy="347472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266943" y="1572768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04403"/>
                </a:solidFill>
              </a:rPr>
              <a:t>STEP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78423" y="20116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91919"/>
                </a:solidFill>
              </a:rPr>
              <a:t>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66943" y="2633472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345E"/>
                </a:solidFill>
              </a:rPr>
              <a:t>Checkout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12663" y="3063240"/>
            <a:ext cx="1371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04040"/>
                </a:solidFill>
              </a:rPr>
              <a:t>Enter address
(saved or new)
Choose payment
Credit card
or COD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4847" y="320040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</a:rPr>
              <a:t>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85431" y="1554480"/>
            <a:ext cx="15544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885431" y="1554480"/>
            <a:ext cx="1554480" cy="347472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931151" y="1572768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04403"/>
                </a:solidFill>
              </a:rPr>
              <a:t>STEP 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42631" y="20116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91919"/>
                </a:solidFill>
              </a:rPr>
              <a:t>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1151" y="2633472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345E"/>
                </a:solidFill>
              </a:rPr>
              <a:t>Payment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76871" y="3063240"/>
            <a:ext cx="1371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04040"/>
                </a:solidFill>
              </a:rPr>
              <a:t>Stripe secure
payment (EUR)
or cash on
delivery (TND)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49055" y="320040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</a:rPr>
              <a:t>›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49640" y="1554480"/>
            <a:ext cx="15544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549640" y="1554480"/>
            <a:ext cx="1554480" cy="347472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595360" y="1572768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04403"/>
                </a:solidFill>
              </a:rPr>
              <a:t>STEP 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06840" y="20116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91919"/>
                </a:solidFill>
              </a:rPr>
              <a:t>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2633472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345E"/>
                </a:solidFill>
              </a:rPr>
              <a:t>Confirmation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41080" y="3063240"/>
            <a:ext cx="1371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04040"/>
                </a:solidFill>
              </a:rPr>
              <a:t>Order email
confirmation
Order number
Tracking link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13263" y="320040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</a:rPr>
              <a:t>›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213847" y="1554480"/>
            <a:ext cx="15544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0213847" y="1554480"/>
            <a:ext cx="1554480" cy="347472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259567" y="1572768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04403"/>
                </a:solidFill>
              </a:rPr>
              <a:t>STEP 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71047" y="20116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91919"/>
                </a:solidFill>
              </a:rPr>
              <a:t>👤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59567" y="2633472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345E"/>
                </a:solidFill>
              </a:rPr>
              <a:t>My Account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05287" y="3063240"/>
            <a:ext cx="1371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04040"/>
                </a:solidFill>
              </a:rPr>
              <a:t>View orders
Track shipping
See my impact
Manage wishlist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600" y="6199632"/>
            <a:ext cx="11704320" cy="384048"/>
          </a:xfrm>
          <a:prstGeom prst="rect">
            <a:avLst/>
          </a:prstGeom>
          <a:solidFill>
            <a:srgbClr val="E8F4EC"/>
          </a:solidFill>
          <a:ln w="127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65760" y="62179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8A745"/>
                </a:solidFill>
              </a:rPr>
              <a:t>✓  Guest checkout supported — no account required.  ✓  Logged-in customers get saved addresses, order history &amp; personal impact dashboard.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7432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Wallah We Can – GreenSchool E-Commerce Platform  |  Confidential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3000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73152"/>
          </a:xfrm>
          <a:prstGeom prst="rect">
            <a:avLst/>
          </a:prstGeom>
          <a:solidFill>
            <a:srgbClr val="E04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Customer Account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Everything a registered customer can do in 'Mon Compte'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73152" cy="1417320"/>
          </a:xfrm>
          <a:prstGeom prst="rect">
            <a:avLst/>
          </a:prstGeom>
          <a:solidFill>
            <a:srgbClr val="E04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91919"/>
                </a:solidFill>
              </a:rPr>
              <a:t>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664207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345E"/>
                </a:solidFill>
              </a:rPr>
              <a:t>Impact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0574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Personalised banner showing total purchases, total orders, and a breakdown of how many items were donated to which schools — updated after every order.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15468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3154680"/>
            <a:ext cx="73152" cy="1417320"/>
          </a:xfrm>
          <a:prstGeom prst="rect">
            <a:avLst/>
          </a:prstGeom>
          <a:solidFill>
            <a:srgbClr val="E04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56616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91919"/>
                </a:solidFill>
              </a:rPr>
              <a:t>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26440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345E"/>
                </a:solidFill>
              </a:rPr>
              <a:t>Order 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6576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Full list of all past orders with status badge (pending / paid / shipped / delivered). Click any order to see full details: items, prices, shipping address, billing address, and tracking number.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75488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4754880"/>
            <a:ext cx="73152" cy="1417320"/>
          </a:xfrm>
          <a:prstGeom prst="rect">
            <a:avLst/>
          </a:prstGeom>
          <a:solidFill>
            <a:srgbClr val="E04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516636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91919"/>
                </a:solidFill>
              </a:rPr>
              <a:t>❤️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86460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345E"/>
                </a:solidFill>
              </a:rPr>
              <a:t>Wishlist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2578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Save products to a personal wishlist directly from the product page. View and manage saved items in the account area.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554480"/>
            <a:ext cx="5577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09360" y="1554480"/>
            <a:ext cx="73152" cy="141732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196596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91919"/>
                </a:solidFill>
              </a:rPr>
              <a:t>⚙️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1664207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345E"/>
                </a:solidFill>
              </a:rPr>
              <a:t>Account Settings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20574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Update personal info (name, phone), default shipping address, change password, set preferred currency (TND / EUR) and language (FR / EN / AR), manage newsletter subscription.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154680"/>
            <a:ext cx="5577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09360" y="3154680"/>
            <a:ext cx="73152" cy="141732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356616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91919"/>
                </a:solidFill>
              </a:rPr>
              <a:t>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326440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345E"/>
                </a:solidFill>
              </a:rPr>
              <a:t>Billing Address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36576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B2B customers can save a separate billing address (company name, tax ID) that auto-fills at checkout — no need to re-type every order.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4754880"/>
            <a:ext cx="5577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09360" y="4754880"/>
            <a:ext cx="73152" cy="141732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92240" y="516636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91919"/>
                </a:solidFill>
              </a:rPr>
              <a:t>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486460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345E"/>
                </a:solidFill>
              </a:rPr>
              <a:t>Password Reset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52578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Full forgot-password flow via email link. Secure token-based reset — works independently of WordPress login.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7432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Wallah We Can – GreenSchool E-Commerce Platform  |  Confidential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73152"/>
          </a:xfrm>
          <a:prstGeom prst="rect">
            <a:avLst/>
          </a:prstGeom>
          <a:solidFill>
            <a:srgbClr val="E04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Checkout — In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Smart address management + dual payment method support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548640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5486400" cy="36576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53619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📦 Address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93392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 b="0">
                <a:solidFill>
                  <a:srgbClr val="404040"/>
                </a:solidFill>
              </a:rPr>
              <a:t>•  Logged-in users with a saved address see it displayed instantly — no re-typing.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404040"/>
                </a:solidFill>
              </a:rPr>
              <a:t>•  Option tile 1: 'Use this address' — one click to confirm.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404040"/>
                </a:solidFill>
              </a:rPr>
              <a:t>•  Option tile 2: 'Use a different address' — expands an inline form.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404040"/>
                </a:solidFill>
              </a:rPr>
              <a:t>•  New address can be saved as default with a single checkbox tick.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404040"/>
                </a:solidFill>
              </a:rPr>
              <a:t>•  Guest users fill in the address form directly (no account needed).</a:t>
            </a:r>
          </a:p>
          <a:p>
            <a:pPr>
              <a:spcBef>
                <a:spcPts val="300"/>
              </a:spcBef>
            </a:pPr>
            <a:endParaRPr sz="1100" b="0">
              <a:solidFill>
                <a:srgbClr val="404040"/>
              </a:solidFill>
            </a:endParaRP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1C345E"/>
                </a:solidFill>
              </a:rPr>
              <a:t>🧾  Billing Address Section: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404040"/>
                </a:solidFill>
              </a:rPr>
              <a:t>•  Option tile 1: 'Same as shipping' — default, zero friction.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404040"/>
                </a:solidFill>
              </a:rPr>
              <a:t>•  Option tile 2: 'Different billing address' — expands full billing form with company name field.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404040"/>
                </a:solidFill>
              </a:rPr>
              <a:t>•  B2B customers enter company name + address for proper invoicing.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404040"/>
                </a:solidFill>
              </a:rPr>
              <a:t>•  Billing address is saved to every order for later reference.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508760"/>
            <a:ext cx="557784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508760"/>
            <a:ext cx="5577840" cy="365760"/>
          </a:xfrm>
          <a:prstGeom prst="rect">
            <a:avLst/>
          </a:prstGeom>
          <a:solidFill>
            <a:srgbClr val="E04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53619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💳 Payment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01168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345E"/>
                </a:solidFill>
              </a:rPr>
              <a:t>💳  Card Payment (Stripe)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3317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•  Secure hosted Stripe Checkout page.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6060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•  Supports Visa, Mastercard, Apple Pay.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8803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•  Payment in EUR (customers' banks handle TND conversion automatically).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154679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•  Order created only after webhook confirms payment — no risk of unpaid orders.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520439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A745"/>
                </a:solidFill>
              </a:rPr>
              <a:t>💵  Cash on Delivery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840479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•  Available for Tunisian customers.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114799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•  Order placed immediately, payment at door.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389119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•  Order confirmation email sent at checkout.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663439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•  Status automatically set to 'Paid'.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029199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4403"/>
                </a:solidFill>
              </a:rPr>
              <a:t>🎁  Gift Packaging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5349239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•  Optional add-on at checkout.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5623559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•  +5 DT / +2 € — added to order total.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897879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•  Noted on order for packing team.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7432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Wallah We Can – GreenSchool E-Commerce Platform  | 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73152"/>
          </a:xfrm>
          <a:prstGeom prst="rect">
            <a:avLst/>
          </a:prstGeom>
          <a:solidFill>
            <a:srgbClr val="E04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Admin Dashboard —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Everything the WWC team can manage without touching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3749039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3749039" cy="384048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79" y="156362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📊  Dashboard KPIs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011680"/>
            <a:ext cx="3474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404040"/>
                </a:solidFill>
              </a:rPr>
              <a:t>✓  Total revenue (TND &amp; EUR)</a:t>
            </a:r>
          </a:p>
          <a:p>
            <a:r>
              <a:rPr sz="1050">
                <a:solidFill>
                  <a:srgbClr val="404040"/>
                </a:solidFill>
              </a:rPr>
              <a:t>✓  Orders today / this week / this month</a:t>
            </a:r>
          </a:p>
          <a:p>
            <a:r>
              <a:rPr sz="1050">
                <a:solidFill>
                  <a:srgbClr val="404040"/>
                </a:solidFill>
              </a:rPr>
              <a:t>✓  Items donated to students</a:t>
            </a:r>
          </a:p>
          <a:p>
            <a:r>
              <a:rPr sz="1050">
                <a:solidFill>
                  <a:srgbClr val="404040"/>
                </a:solidFill>
              </a:rPr>
              <a:t>✓  Top-selling products</a:t>
            </a:r>
          </a:p>
          <a:p>
            <a:r>
              <a:rPr sz="1050">
                <a:solidFill>
                  <a:srgbClr val="404040"/>
                </a:solidFill>
              </a:rPr>
              <a:t>✓  Low stock alerts</a:t>
            </a:r>
          </a:p>
          <a:p>
            <a:r>
              <a:rPr sz="1050">
                <a:solidFill>
                  <a:srgbClr val="404040"/>
                </a:solidFill>
              </a:rPr>
              <a:t>✓  API health status banner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508760"/>
            <a:ext cx="3749039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51959" y="1508760"/>
            <a:ext cx="3749039" cy="384048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56362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📦  Products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011680"/>
            <a:ext cx="3474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404040"/>
                </a:solidFill>
              </a:rPr>
              <a:t>✓  Add / edit / delete products</a:t>
            </a:r>
          </a:p>
          <a:p>
            <a:r>
              <a:rPr sz="1050">
                <a:solidFill>
                  <a:srgbClr val="404040"/>
                </a:solidFill>
              </a:rPr>
              <a:t>✓  Upload multiple product images</a:t>
            </a:r>
          </a:p>
          <a:p>
            <a:r>
              <a:rPr sz="1050">
                <a:solidFill>
                  <a:srgbClr val="404040"/>
                </a:solidFill>
              </a:rPr>
              <a:t>✓  Set price in TND and EUR</a:t>
            </a:r>
          </a:p>
          <a:p>
            <a:r>
              <a:rPr sz="1050">
                <a:solidFill>
                  <a:srgbClr val="404040"/>
                </a:solidFill>
              </a:rPr>
              <a:t>✓  Set B2B wholesale price</a:t>
            </a:r>
          </a:p>
          <a:p>
            <a:r>
              <a:rPr sz="1050">
                <a:solidFill>
                  <a:srgbClr val="404040"/>
                </a:solidFill>
              </a:rPr>
              <a:t>✓  Define social impact (school, qty, item)</a:t>
            </a:r>
          </a:p>
          <a:p>
            <a:r>
              <a:rPr sz="1050">
                <a:solidFill>
                  <a:srgbClr val="404040"/>
                </a:solidFill>
              </a:rPr>
              <a:t>✓  Manage stock levels</a:t>
            </a:r>
          </a:p>
          <a:p>
            <a:r>
              <a:rPr sz="1050">
                <a:solidFill>
                  <a:srgbClr val="404040"/>
                </a:solidFill>
              </a:rPr>
              <a:t>✓  Set badges: organic, handmade, vegan…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508760"/>
            <a:ext cx="3749039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1508760"/>
            <a:ext cx="3749039" cy="384048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156362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🏷️  Categories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011680"/>
            <a:ext cx="3474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404040"/>
                </a:solidFill>
              </a:rPr>
              <a:t>✓  Create / rename / reorder categories</a:t>
            </a:r>
          </a:p>
          <a:p>
            <a:r>
              <a:rPr sz="1050">
                <a:solidFill>
                  <a:srgbClr val="404040"/>
                </a:solidFill>
              </a:rPr>
              <a:t>✓  7 default categories (SOINS, NUTRITION…)</a:t>
            </a:r>
          </a:p>
          <a:p>
            <a:r>
              <a:rPr sz="1050">
                <a:solidFill>
                  <a:srgbClr val="404040"/>
                </a:solidFill>
              </a:rPr>
              <a:t>✓  Hierarchical (parent / child)</a:t>
            </a:r>
          </a:p>
          <a:p>
            <a:r>
              <a:rPr sz="1050">
                <a:solidFill>
                  <a:srgbClr val="404040"/>
                </a:solidFill>
              </a:rPr>
              <a:t>✓  Multilingual labels (FR/EN/AR)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023360"/>
            <a:ext cx="3749039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4320" y="4023360"/>
            <a:ext cx="3749039" cy="384048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79" y="407822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👨‍🌾  Producers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4526280"/>
            <a:ext cx="3474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404040"/>
                </a:solidFill>
              </a:rPr>
              <a:t>✓  Add / edit producer profiles</a:t>
            </a:r>
          </a:p>
          <a:p>
            <a:r>
              <a:rPr sz="1050">
                <a:solidFill>
                  <a:srgbClr val="404040"/>
                </a:solidFill>
              </a:rPr>
              <a:t>✓  Upload producer photo</a:t>
            </a:r>
          </a:p>
          <a:p>
            <a:r>
              <a:rPr sz="1050">
                <a:solidFill>
                  <a:srgbClr val="404040"/>
                </a:solidFill>
              </a:rPr>
              <a:t>✓  Write bio in French, English, Arabic</a:t>
            </a:r>
          </a:p>
          <a:p>
            <a:r>
              <a:rPr sz="1050">
                <a:solidFill>
                  <a:srgbClr val="404040"/>
                </a:solidFill>
              </a:rPr>
              <a:t>✓  Track total products sold &amp; earnings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59" y="4023360"/>
            <a:ext cx="3749039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51959" y="4023360"/>
            <a:ext cx="3749039" cy="384048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89120" y="407822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📋  Orders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526280"/>
            <a:ext cx="3474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404040"/>
                </a:solidFill>
              </a:rPr>
              <a:t>✓  View all orders with status filter</a:t>
            </a:r>
          </a:p>
          <a:p>
            <a:r>
              <a:rPr sz="1050">
                <a:solidFill>
                  <a:srgbClr val="404040"/>
                </a:solidFill>
              </a:rPr>
              <a:t>✓  Search by order number or customer</a:t>
            </a:r>
          </a:p>
          <a:p>
            <a:r>
              <a:rPr sz="1050">
                <a:solidFill>
                  <a:srgbClr val="404040"/>
                </a:solidFill>
              </a:rPr>
              <a:t>✓  Update status: paid→processing→shipped</a:t>
            </a:r>
          </a:p>
          <a:p>
            <a:r>
              <a:rPr sz="1050">
                <a:solidFill>
                  <a:srgbClr val="404040"/>
                </a:solidFill>
              </a:rPr>
              <a:t>✓  Enter tracking number</a:t>
            </a:r>
          </a:p>
          <a:p>
            <a:r>
              <a:rPr sz="1050">
                <a:solidFill>
                  <a:srgbClr val="404040"/>
                </a:solidFill>
              </a:rPr>
              <a:t>✓  System sends shipping email automatically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4023360"/>
            <a:ext cx="3749039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29600" y="4023360"/>
            <a:ext cx="3749039" cy="384048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66760" y="407822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👥  Customers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526280"/>
            <a:ext cx="3474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404040"/>
                </a:solidFill>
              </a:rPr>
              <a:t>✓  View all registered customers</a:t>
            </a:r>
          </a:p>
          <a:p>
            <a:r>
              <a:rPr sz="1050">
                <a:solidFill>
                  <a:srgbClr val="404040"/>
                </a:solidFill>
              </a:rPr>
              <a:t>✓  See B2C vs B2B type</a:t>
            </a:r>
          </a:p>
          <a:p>
            <a:r>
              <a:rPr sz="1050">
                <a:solidFill>
                  <a:srgbClr val="404040"/>
                </a:solidFill>
              </a:rPr>
              <a:t>✓  View order history per customer</a:t>
            </a:r>
          </a:p>
          <a:p>
            <a:r>
              <a:rPr sz="1050">
                <a:solidFill>
                  <a:srgbClr val="404040"/>
                </a:solidFill>
              </a:rPr>
              <a:t>✓  See cumulative impact per customer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432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Wallah We Can – GreenSchool E-Commerce Platform  |  Confidential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73152"/>
          </a:xfrm>
          <a:prstGeom prst="rect">
            <a:avLst/>
          </a:prstGeom>
          <a:solidFill>
            <a:srgbClr val="E04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Order Management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How a WWC team member processes an order from start to finish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1828800" cy="47548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591056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PENDING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2029968"/>
            <a:ext cx="91440" cy="3200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2350008"/>
            <a:ext cx="1828800" cy="37033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2468880"/>
            <a:ext cx="1645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Order placed
(bank transfer
or stripe
not yet
confirmed)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9424" y="1554480"/>
            <a:ext cx="1828800" cy="47548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95144" y="1591056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18104" y="2029968"/>
            <a:ext cx="91440" cy="3200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249424" y="2350008"/>
            <a:ext cx="1828800" cy="3703320"/>
          </a:xfrm>
          <a:prstGeom prst="rect">
            <a:avLst/>
          </a:prstGeom>
          <a:solidFill>
            <a:srgbClr val="FFFFFF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40864" y="2468880"/>
            <a:ext cx="1645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Payment
confirmed
(Stripe webhook
or COD
marked paid)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24528" y="1554480"/>
            <a:ext cx="1828800" cy="475488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70248" y="1591056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PROCESSING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93208" y="2029968"/>
            <a:ext cx="91440" cy="3200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24528" y="2350008"/>
            <a:ext cx="1828800" cy="3703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15968" y="2468880"/>
            <a:ext cx="1645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Admin confirms
stock, prepares
shipment
(set in admin
dashboard)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9632" y="1554480"/>
            <a:ext cx="1828800" cy="475488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45352" y="1591056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SHIPPED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68312" y="2029968"/>
            <a:ext cx="91440" cy="3200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99632" y="2350008"/>
            <a:ext cx="1828800" cy="3703320"/>
          </a:xfrm>
          <a:prstGeom prst="rect">
            <a:avLst/>
          </a:prstGeom>
          <a:solidFill>
            <a:srgbClr val="FFFFFF"/>
          </a:solidFill>
          <a:ln w="2540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91072" y="2468880"/>
            <a:ext cx="1645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Admin enters
tracking
number —
email sent
automatically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74736" y="1554480"/>
            <a:ext cx="1828800" cy="475488"/>
          </a:xfrm>
          <a:prstGeom prst="rect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0456" y="1591056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DELIVERED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43416" y="2029968"/>
            <a:ext cx="91440" cy="3200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74736" y="2350008"/>
            <a:ext cx="1828800" cy="3703320"/>
          </a:xfrm>
          <a:prstGeom prst="rect">
            <a:avLst/>
          </a:prstGeom>
          <a:solidFill>
            <a:srgbClr val="FFFFFF"/>
          </a:solidFill>
          <a:ln w="25400">
            <a:solidFill>
              <a:srgbClr val="20C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66176" y="2468880"/>
            <a:ext cx="1645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Customer
confirms
receipt
(or admin
marks done)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149840" y="1554480"/>
            <a:ext cx="1828800" cy="47548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195560" y="1591056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CANCELLED /
REFUNDED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018520" y="2029968"/>
            <a:ext cx="91440" cy="3200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0149840" y="2350008"/>
            <a:ext cx="1828800" cy="3703320"/>
          </a:xfrm>
          <a:prstGeom prst="rect">
            <a:avLst/>
          </a:prstGeom>
          <a:solidFill>
            <a:srgbClr val="FFFFFF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241280" y="2468880"/>
            <a:ext cx="1645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Stock
automatically
restored —
no manual
adjustment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6217920"/>
            <a:ext cx="11612880" cy="411480"/>
          </a:xfrm>
          <a:prstGeom prst="rect">
            <a:avLst/>
          </a:prstGeom>
          <a:solidFill>
            <a:srgbClr val="E8F4EC"/>
          </a:solidFill>
          <a:ln w="127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6236208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8A745"/>
                </a:solidFill>
              </a:rPr>
              <a:t>🤖  Automated:  Stripe webhook creates order on payment ·  Shipping email on status→Shipped  ·  Stock restored on Cancel/Refund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432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Wallah We Can – GreenSchool E-Commerce Platform  |  Confidential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73152"/>
          </a:xfrm>
          <a:prstGeom prst="rect">
            <a:avLst/>
          </a:prstGeom>
          <a:solidFill>
            <a:srgbClr val="E04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Impact &amp; Donations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The social transparency engine at the heart of WWC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548640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5486400" cy="36576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53619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How Impact Is Calculated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52120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b="1">
                <a:solidFill>
                  <a:srgbClr val="1C345E"/>
                </a:solidFill>
              </a:rPr>
              <a:t>1️⃣  Admin sets impact on each product: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404040"/>
                </a:solidFill>
              </a:rPr>
              <a:t>      → School name (e.g. Sidi Mechreg)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404040"/>
                </a:solidFill>
              </a:rPr>
              <a:t>      → Impact item (e.g. 'energy bars')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404040"/>
                </a:solidFill>
              </a:rPr>
              <a:t>      → Quantity per unit sold (e.g. 6)</a:t>
            </a:r>
          </a:p>
          <a:p>
            <a:pPr>
              <a:spcBef>
                <a:spcPts val="200"/>
              </a:spcBef>
            </a:pPr>
            <a:endParaRPr sz="1100" b="0">
              <a:solidFill>
                <a:srgbClr val="404040"/>
              </a:solidFill>
            </a:endParaRP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1C345E"/>
                </a:solidFill>
              </a:rPr>
              <a:t>2️⃣  Customer buys 2 units of that product: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404040"/>
                </a:solidFill>
              </a:rPr>
              <a:t>      → 12 energy bars recorded for Sidi Mechreg</a:t>
            </a:r>
          </a:p>
          <a:p>
            <a:pPr>
              <a:spcBef>
                <a:spcPts val="200"/>
              </a:spcBef>
            </a:pPr>
            <a:endParaRPr sz="1100" b="0">
              <a:solidFill>
                <a:srgbClr val="404040"/>
              </a:solidFill>
            </a:endParaRP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1C345E"/>
                </a:solidFill>
              </a:rPr>
              <a:t>3️⃣  Impact is captured at order time: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404040"/>
                </a:solidFill>
              </a:rPr>
              <a:t>      → Stored permanently on the Order record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404040"/>
                </a:solidFill>
              </a:rPr>
              <a:t>      → Cannot be changed retroactively</a:t>
            </a:r>
          </a:p>
          <a:p>
            <a:pPr>
              <a:spcBef>
                <a:spcPts val="200"/>
              </a:spcBef>
            </a:pPr>
            <a:endParaRPr sz="1100" b="0">
              <a:solidFill>
                <a:srgbClr val="404040"/>
              </a:solidFill>
            </a:endParaRP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1C345E"/>
                </a:solidFill>
              </a:rPr>
              <a:t>4️⃣  Customer sees their personal total: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404040"/>
                </a:solidFill>
              </a:rPr>
              <a:t>      → 'You have donated 48 energy bars'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404040"/>
                </a:solidFill>
              </a:rPr>
              <a:t>      → Breakdown by school on their dashboard</a:t>
            </a:r>
          </a:p>
          <a:p>
            <a:pPr>
              <a:spcBef>
                <a:spcPts val="200"/>
              </a:spcBef>
            </a:pPr>
            <a:endParaRPr sz="1100" b="0">
              <a:solidFill>
                <a:srgbClr val="404040"/>
              </a:solidFill>
            </a:endParaRP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1C345E"/>
                </a:solidFill>
              </a:rPr>
              <a:t>5️⃣  Admin can log real Impact Events: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404040"/>
                </a:solidFill>
              </a:rPr>
              <a:t>      → 'March 2026: 200 bars delivered to Sidi Mechreg'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404040"/>
                </a:solidFill>
              </a:rPr>
              <a:t>      → Visible on public Impact page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508760"/>
            <a:ext cx="557784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508760"/>
            <a:ext cx="5577840" cy="365760"/>
          </a:xfrm>
          <a:prstGeom prst="rect">
            <a:avLst/>
          </a:prstGeom>
          <a:solidFill>
            <a:srgbClr val="E04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53619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Donations Module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2011680"/>
            <a:ext cx="5257800" cy="868680"/>
          </a:xfrm>
          <a:prstGeom prst="rect">
            <a:avLst/>
          </a:prstGeom>
          <a:solidFill>
            <a:srgbClr val="FFF8F0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206654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345E"/>
                </a:solidFill>
              </a:rPr>
              <a:t>Separate donation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3774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Customers can make direct monetary donations to specific school projects — independent of purchases.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2971800"/>
            <a:ext cx="5257800" cy="868680"/>
          </a:xfrm>
          <a:prstGeom prst="rect">
            <a:avLst/>
          </a:prstGeom>
          <a:solidFill>
            <a:srgbClr val="FFF8F0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302666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345E"/>
                </a:solidFill>
              </a:rPr>
              <a:t>Country &amp; project image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337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Each donation project has a country flag, project description, and image shown on the donation page.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3931920"/>
            <a:ext cx="5257800" cy="868680"/>
          </a:xfrm>
          <a:prstGeom prst="rect">
            <a:avLst/>
          </a:prstGeom>
          <a:solidFill>
            <a:srgbClr val="FFF8F0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3986783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345E"/>
                </a:solidFill>
              </a:rPr>
              <a:t>User attribution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2976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Logged-in donors are linked to their donation for history tracking.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4892040"/>
            <a:ext cx="5257800" cy="868680"/>
          </a:xfrm>
          <a:prstGeom prst="rect">
            <a:avLst/>
          </a:prstGeom>
          <a:solidFill>
            <a:srgbClr val="FFF8F0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0" y="4946903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345E"/>
                </a:solidFill>
              </a:rPr>
              <a:t>Admin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2578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Donation admin panel: view all donations, amounts, donors, dates, and project breakdown.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5852159"/>
            <a:ext cx="5257800" cy="868680"/>
          </a:xfrm>
          <a:prstGeom prst="rect">
            <a:avLst/>
          </a:prstGeom>
          <a:solidFill>
            <a:srgbClr val="FFF8F0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0" y="5907023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345E"/>
                </a:solidFill>
              </a:rPr>
              <a:t>Public impact page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2179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A public-facing Impact page shows cumulative donations and real events — builds trust and transparency.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432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Wallah We Can – GreenSchool E-Commerce Platform  | 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73152"/>
          </a:xfrm>
          <a:prstGeom prst="rect">
            <a:avLst/>
          </a:prstGeom>
          <a:solidFill>
            <a:srgbClr val="E04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Gap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Honest assessment of what still needs to be built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11612880" cy="1856231"/>
          </a:xfrm>
          <a:prstGeom prst="rect">
            <a:avLst/>
          </a:prstGeom>
          <a:solidFill>
            <a:srgbClr val="FFEBEB"/>
          </a:solidFill>
          <a:ln w="1905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54533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3545"/>
                </a:solidFill>
              </a:rPr>
              <a:t>🔴  PHASE 2 — Remaining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56231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91919"/>
                </a:solidFill>
              </a:rPr>
              <a:t>•  Composable Box builder UI  —  The 'Build My Box' feature: multi-step JS interface to assemble a custom 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40279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91919"/>
                </a:solidFill>
              </a:rPr>
              <a:t>•  Email verification  —  Send verification email on registration; gate certain features behind verified 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24327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91919"/>
                </a:solidFill>
              </a:rPr>
              <a:t>•  Cart count badge in WordPress header  —  Requires theme integration hook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0837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91919"/>
                </a:solidFill>
              </a:rPr>
              <a:t>•  B2B billing address saved in account  —  Save default billing address for company customers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438144"/>
            <a:ext cx="11612880" cy="2624328"/>
          </a:xfrm>
          <a:prstGeom prst="rect">
            <a:avLst/>
          </a:prstGeom>
          <a:solidFill>
            <a:srgbClr val="FFF8E1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47472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800"/>
                </a:solidFill>
              </a:rPr>
              <a:t>🟡  PHASE 3 — Business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85615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91919"/>
                </a:solidFill>
              </a:rPr>
              <a:t>•  Multilingual UI switching  —  Language switcher widget; serve FR/EN/AR product content based on user preference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69663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91919"/>
                </a:solidFill>
              </a:rPr>
              <a:t>•  B2B registration &amp; approval  —  Dedicated company signup form + admin approval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553712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91919"/>
                </a:solidFill>
              </a:rPr>
              <a:t>•  Coupon system  —  Backend model is ready; need admin UI to create codes + frontend apply-coupon logic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937759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91919"/>
                </a:solidFill>
              </a:rPr>
              <a:t>•  Live TND/EUR exchange rate  —  Currently hardcoded at 0.30; need daily fetch from exchange rate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321807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91919"/>
                </a:solidFill>
              </a:rPr>
              <a:t>•  SEO meta output  —  Output product meta title/description into WordPress &lt;head&gt;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70585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91919"/>
                </a:solidFill>
              </a:rPr>
              <a:t>•  Google Analytics / Meta Pixel events  —  Track add_to_cart, purchase, view_item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6135624"/>
            <a:ext cx="11612880" cy="3008376"/>
          </a:xfrm>
          <a:prstGeom prst="rect">
            <a:avLst/>
          </a:prstGeom>
          <a:solidFill>
            <a:srgbClr val="E8F4FF"/>
          </a:solidFill>
          <a:ln w="1905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617220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BFF"/>
                </a:solidFill>
              </a:rPr>
              <a:t>🔵  PHASE 4 — Production Hardening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8309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91919"/>
                </a:solidFill>
              </a:rPr>
              <a:t>•  PostgreSQL migration  —  Move from SQLite (dev) to PostgreSQL (production)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867144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91919"/>
                </a:solidFill>
              </a:rPr>
              <a:t>•  Nginx + Gunicorn production config  —  Proper web server setup for api.wallahwecan.org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7251192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91919"/>
                </a:solidFill>
              </a:rPr>
              <a:t>•  SSL certificate  —  HTTPS for the API domain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763524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91919"/>
                </a:solidFill>
              </a:rPr>
              <a:t>•  Media storage on S3 / Cloudflare R2  —  Product images currently on server disk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801928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91919"/>
                </a:solidFill>
              </a:rPr>
              <a:t>•  Celery async email workers  —  Emails currently sent synchronously; move to background queue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840333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91919"/>
                </a:solidFill>
              </a:rPr>
              <a:t>•  Error monitoring (Sentry)  —  Catch and alert on production errors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8787384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91919"/>
                </a:solidFill>
              </a:rPr>
              <a:t>•  Automated backups  —  Daily database + media file backups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7432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Wallah We Can – GreenSchool E-Commerce Platform  | 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73152"/>
          </a:xfrm>
          <a:prstGeom prst="rect">
            <a:avLst/>
          </a:prstGeom>
          <a:solidFill>
            <a:srgbClr val="E04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Roadmap — Phase 3 &amp;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Work breakdown for a third-party developer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11612880" cy="384048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52704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59" y="1527048"/>
            <a:ext cx="1188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Component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527048"/>
            <a:ext cx="1188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Effort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527048"/>
            <a:ext cx="1188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Priority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72600" y="1527048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Notes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892807"/>
            <a:ext cx="11612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1938527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91919"/>
                </a:solidFill>
              </a:rPr>
              <a:t>Multilingual UI switching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59" y="1938527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91919"/>
                </a:solidFill>
              </a:rPr>
              <a:t>Frontend + WP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1938527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91919"/>
                </a:solidFill>
              </a:rPr>
              <a:t>3 days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947672"/>
            <a:ext cx="1097280" cy="237744"/>
          </a:xfrm>
          <a:prstGeom prst="rect">
            <a:avLst/>
          </a:prstGeom>
          <a:solidFill>
            <a:srgbClr val="E04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92440" y="1956815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1938527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91919"/>
                </a:solidFill>
              </a:rPr>
              <a:t>FR/EN/AR toggle, store in cookie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240279"/>
            <a:ext cx="11612880" cy="347472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" y="228599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91919"/>
                </a:solidFill>
              </a:rPr>
              <a:t>B2B registration + approval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59" y="2285999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91919"/>
                </a:solidFill>
              </a:rPr>
              <a:t>Backend + WP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2285999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91919"/>
                </a:solidFill>
              </a:rPr>
              <a:t>4 days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92440" y="2295144"/>
            <a:ext cx="1097280" cy="237744"/>
          </a:xfrm>
          <a:prstGeom prst="rect">
            <a:avLst/>
          </a:prstGeom>
          <a:solidFill>
            <a:srgbClr val="E04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92440" y="2304287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2285999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91919"/>
                </a:solidFill>
              </a:rPr>
              <a:t>Company form, admin approval email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587751"/>
            <a:ext cx="11612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2633471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91919"/>
                </a:solidFill>
              </a:rPr>
              <a:t>Coupon system — admin 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59" y="2633471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91919"/>
                </a:solidFill>
              </a:rPr>
              <a:t>Frontend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2633471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91919"/>
                </a:solidFill>
              </a:rPr>
              <a:t>2 days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92440" y="2642615"/>
            <a:ext cx="1097280" cy="237744"/>
          </a:xfrm>
          <a:prstGeom prst="rect">
            <a:avLst/>
          </a:prstGeom>
          <a:solidFill>
            <a:srgbClr val="E04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92440" y="2651759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2633471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91919"/>
                </a:solidFill>
              </a:rPr>
              <a:t>Backend model already done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2935223"/>
            <a:ext cx="11612880" cy="347472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0040" y="2980943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91919"/>
                </a:solidFill>
              </a:rPr>
              <a:t>Email verification on register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59" y="2980943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91919"/>
                </a:solidFill>
              </a:rPr>
              <a:t>Backend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2980943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91919"/>
                </a:solidFill>
              </a:rPr>
              <a:t>1 day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92440" y="2990087"/>
            <a:ext cx="1097280" cy="237744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92440" y="2999231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72600" y="2980943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91919"/>
                </a:solidFill>
              </a:rPr>
              <a:t>Send token on signup, gate features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282695"/>
            <a:ext cx="11612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0040" y="3328415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91919"/>
                </a:solidFill>
              </a:rPr>
              <a:t>Composable Box builder UI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94959" y="3328415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91919"/>
                </a:solidFill>
              </a:rPr>
              <a:t>Frontend + JS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3328415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91919"/>
                </a:solidFill>
              </a:rPr>
              <a:t>5 days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92440" y="3337559"/>
            <a:ext cx="1097280" cy="237744"/>
          </a:xfrm>
          <a:prstGeom prst="rect">
            <a:avLst/>
          </a:prstGeom>
          <a:solidFill>
            <a:srgbClr val="E04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092440" y="3346703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72600" y="3328415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91919"/>
                </a:solidFill>
              </a:rPr>
              <a:t>Multi-step selector, preview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3630167"/>
            <a:ext cx="11612880" cy="347472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20040" y="3675887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91919"/>
                </a:solidFill>
              </a:rPr>
              <a:t>Live TND/EUR rate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94959" y="3675887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91919"/>
                </a:solidFill>
              </a:rPr>
              <a:t>Backend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20840" y="3675887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91919"/>
                </a:solidFill>
              </a:rPr>
              <a:t>0.5 day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92440" y="3685031"/>
            <a:ext cx="1097280" cy="237744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092440" y="3694175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72600" y="3675887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91919"/>
                </a:solidFill>
              </a:rPr>
              <a:t>Daily cron job, admin override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3977639"/>
            <a:ext cx="11612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20040" y="402335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91919"/>
                </a:solidFill>
              </a:rPr>
              <a:t>SEO meta tags in WP head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94959" y="4023359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91919"/>
                </a:solidFill>
              </a:rPr>
              <a:t>WP Plugin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20840" y="4023359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91919"/>
                </a:solidFill>
              </a:rPr>
              <a:t>0.5 day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92440" y="4032503"/>
            <a:ext cx="1097280" cy="237744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092440" y="4041648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72600" y="4023359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91919"/>
                </a:solidFill>
              </a:rPr>
              <a:t>Output meta_title/description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4325112"/>
            <a:ext cx="11612880" cy="347472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20040" y="4370831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91919"/>
                </a:solidFill>
              </a:rPr>
              <a:t>GA4 / Meta Pixel events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94959" y="4370831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91919"/>
                </a:solidFill>
              </a:rPr>
              <a:t>Frontend JS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20840" y="4370831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91919"/>
                </a:solidFill>
              </a:rPr>
              <a:t>2 days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092440" y="4379975"/>
            <a:ext cx="1097280" cy="237744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092440" y="4389120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72600" y="4370831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91919"/>
                </a:solidFill>
              </a:rPr>
              <a:t>view_item, add_to_cart, purchase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4672583"/>
            <a:ext cx="11612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20040" y="4718303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91919"/>
                </a:solidFill>
              </a:rPr>
              <a:t>B2B billing address in account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94959" y="4718303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91919"/>
                </a:solidFill>
              </a:rPr>
              <a:t>Backend + FE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20840" y="4718303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91919"/>
                </a:solidFill>
              </a:rPr>
              <a:t>1.5 days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092440" y="4727447"/>
            <a:ext cx="1097280" cy="237744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092440" y="473659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372600" y="4718303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91919"/>
                </a:solidFill>
              </a:rPr>
              <a:t>CustomerAddress, settings page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" y="5020055"/>
            <a:ext cx="11612880" cy="29260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57200" y="5056631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345E"/>
                </a:solidFill>
              </a:rPr>
              <a:t>PHASE 4 — Production Hardening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" y="5312664"/>
            <a:ext cx="11612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320040" y="5358383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91919"/>
                </a:solidFill>
              </a:rPr>
              <a:t>PostgreSQL migration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94959" y="5358383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91919"/>
                </a:solidFill>
              </a:rPr>
              <a:t>Backend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720840" y="5358383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91919"/>
                </a:solidFill>
              </a:rPr>
              <a:t>1 day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92440" y="5367527"/>
            <a:ext cx="1097280" cy="237744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092440" y="537667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CRIT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372600" y="5358383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91919"/>
                </a:solidFill>
              </a:rPr>
              <a:t>Change DB engine, run migrations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74320" y="5660136"/>
            <a:ext cx="11612880" cy="347472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320040" y="5705855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91919"/>
                </a:solidFill>
              </a:rPr>
              <a:t>Nginx + Gunicorn + systemd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394959" y="5705855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91919"/>
                </a:solidFill>
              </a:rPr>
              <a:t>Infrastructure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720840" y="5705855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91919"/>
                </a:solidFill>
              </a:rPr>
              <a:t>1 day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092440" y="5714999"/>
            <a:ext cx="1097280" cy="237744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092440" y="5724144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CRIT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372600" y="5705855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91919"/>
                </a:solidFill>
              </a:rPr>
              <a:t>Server config for production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74320" y="6007607"/>
            <a:ext cx="11612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320040" y="6053327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91919"/>
                </a:solidFill>
              </a:rPr>
              <a:t>SSL certificate (Let's Encrypt)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94959" y="6053327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91919"/>
                </a:solidFill>
              </a:rPr>
              <a:t>Infrastructure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720840" y="6053327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91919"/>
                </a:solidFill>
              </a:rPr>
              <a:t>0.5 day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092440" y="6062471"/>
            <a:ext cx="1097280" cy="237744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8092440" y="6071616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CRIT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372600" y="6053327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91919"/>
                </a:solidFill>
              </a:rPr>
              <a:t>Auto-renew with certbot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74320" y="6355079"/>
            <a:ext cx="11612880" cy="347472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320040" y="640079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91919"/>
                </a:solidFill>
              </a:rPr>
              <a:t>S3 media storage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394959" y="6400799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91919"/>
                </a:solidFill>
              </a:rPr>
              <a:t>Backend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720840" y="6400799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91919"/>
                </a:solidFill>
              </a:rPr>
              <a:t>1 day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092440" y="6409943"/>
            <a:ext cx="1097280" cy="237744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8092440" y="6419088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CRIT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372600" y="6400799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91919"/>
                </a:solidFill>
              </a:rPr>
              <a:t>django-storages + Cloudflare R2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74320" y="6702551"/>
            <a:ext cx="11612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320040" y="6748271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91919"/>
                </a:solidFill>
              </a:rPr>
              <a:t>Celery async email workers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394959" y="6748271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91919"/>
                </a:solidFill>
              </a:rPr>
              <a:t>Backend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720840" y="6748271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91919"/>
                </a:solidFill>
              </a:rPr>
              <a:t>1 day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092440" y="6757415"/>
            <a:ext cx="1097280" cy="237744"/>
          </a:xfrm>
          <a:prstGeom prst="rect">
            <a:avLst/>
          </a:prstGeom>
          <a:solidFill>
            <a:srgbClr val="E04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8092440" y="6766559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372600" y="6748271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91919"/>
                </a:solidFill>
              </a:rPr>
              <a:t>Redis already in requirements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74320" y="7050023"/>
            <a:ext cx="11612880" cy="347472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320040" y="7095743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91919"/>
                </a:solidFill>
              </a:rPr>
              <a:t>Sentry error monitoring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394959" y="7095743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91919"/>
                </a:solidFill>
              </a:rPr>
              <a:t>Backend + FE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720840" y="7095743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91919"/>
                </a:solidFill>
              </a:rPr>
              <a:t>0.5 day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092440" y="7104887"/>
            <a:ext cx="1097280" cy="237744"/>
          </a:xfrm>
          <a:prstGeom prst="rect">
            <a:avLst/>
          </a:prstGeom>
          <a:solidFill>
            <a:srgbClr val="E04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8092440" y="7114031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372600" y="7095743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91919"/>
                </a:solidFill>
              </a:rPr>
              <a:t>Add DSN, test alerts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274320" y="7397496"/>
            <a:ext cx="11612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320040" y="744321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91919"/>
                </a:solidFill>
              </a:rPr>
              <a:t>Automated DB backups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394959" y="7443216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91919"/>
                </a:solidFill>
              </a:rPr>
              <a:t>Infrastructure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720840" y="7443216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91919"/>
                </a:solidFill>
              </a:rPr>
              <a:t>0.5 day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092440" y="7452360"/>
            <a:ext cx="1097280" cy="237744"/>
          </a:xfrm>
          <a:prstGeom prst="rect">
            <a:avLst/>
          </a:prstGeom>
          <a:solidFill>
            <a:srgbClr val="E04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8092440" y="7461504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372600" y="7443216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91919"/>
                </a:solidFill>
              </a:rPr>
              <a:t>Cron + S3 offsite backup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74320" y="7744968"/>
            <a:ext cx="11612880" cy="347472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320040" y="779068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91919"/>
                </a:solidFill>
              </a:rPr>
              <a:t>Stripe webhook registration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394959" y="7790688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91919"/>
                </a:solidFill>
              </a:rPr>
              <a:t>Backend + Stripe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720840" y="7790688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91919"/>
                </a:solidFill>
              </a:rPr>
              <a:t>0.5 day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092440" y="7799832"/>
            <a:ext cx="1097280" cy="237744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8092440" y="7808976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CRIT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372600" y="7790688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91919"/>
                </a:solidFill>
              </a:rPr>
              <a:t>Register endpoint in Stripe dashboard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27432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Wallah We Can – GreenSchool E-Commerce Platform  |  Confidential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143000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73152"/>
          </a:xfrm>
          <a:prstGeom prst="rect">
            <a:avLst/>
          </a:prstGeom>
          <a:solidFill>
            <a:srgbClr val="E04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Technical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What a new developer needs to understand on Day 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828800"/>
            <a:ext cx="2651760" cy="1645920"/>
          </a:xfrm>
          <a:prstGeom prst="rect">
            <a:avLst/>
          </a:prstGeom>
          <a:solidFill>
            <a:srgbClr val="006AB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965960"/>
            <a:ext cx="24688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WordPress
+ WWC Plugin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51760"/>
            <a:ext cx="2468879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DDDDD"/>
                </a:solidFill>
              </a:rPr>
              <a:t>wallahwecan.org
PHP / WordPress CMS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931920"/>
            <a:ext cx="2651760" cy="1645920"/>
          </a:xfrm>
          <a:prstGeom prst="rect">
            <a:avLst/>
          </a:prstGeom>
          <a:solidFill>
            <a:srgbClr val="34495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4069080"/>
            <a:ext cx="24688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Standalone 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754880"/>
            <a:ext cx="2468879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DDDDD"/>
                </a:solidFill>
              </a:rPr>
              <a:t>HTML / Vanilla JS
Served by Django at /shop/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2560320"/>
            <a:ext cx="2743200" cy="1645920"/>
          </a:xfrm>
          <a:prstGeom prst="rect">
            <a:avLst/>
          </a:prstGeom>
          <a:solidFill>
            <a:srgbClr val="1C345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46320" y="2697479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Django REST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383279"/>
            <a:ext cx="256032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DDDDD"/>
                </a:solidFill>
              </a:rPr>
              <a:t>Python 3 / Django 5
api.wallahwecan.org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4663440"/>
            <a:ext cx="2743200" cy="1280160"/>
          </a:xfrm>
          <a:prstGeom prst="rect">
            <a:avLst/>
          </a:prstGeom>
          <a:solidFill>
            <a:srgbClr val="34495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46320" y="48006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SQLite → PostgreSQL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5303520"/>
            <a:ext cx="25603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DDDDD"/>
                </a:solidFill>
              </a:rPr>
              <a:t>Database
(migrate for prod)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1828800"/>
            <a:ext cx="2286000" cy="1280160"/>
          </a:xfrm>
          <a:prstGeom prst="rect">
            <a:avLst/>
          </a:prstGeom>
          <a:solidFill>
            <a:srgbClr val="635B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78240" y="19659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Stripe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2468880"/>
            <a:ext cx="21031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DDDDD"/>
                </a:solidFill>
              </a:rPr>
              <a:t>Payment processing
EUR payments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0" y="3474720"/>
            <a:ext cx="2286000" cy="1280160"/>
          </a:xfrm>
          <a:prstGeom prst="rect">
            <a:avLst/>
          </a:prstGeom>
          <a:solidFill>
            <a:srgbClr val="28A74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78240" y="3611879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Email (SMTP)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4114800"/>
            <a:ext cx="21031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DDDDD"/>
                </a:solidFill>
              </a:rPr>
              <a:t>Order confirmations
Password reset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0" y="5120640"/>
            <a:ext cx="2286000" cy="1280160"/>
          </a:xfrm>
          <a:prstGeom prst="rect">
            <a:avLst/>
          </a:prstGeom>
          <a:solidFill>
            <a:srgbClr val="DC354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78240" y="52578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Redis + Celery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5760720"/>
            <a:ext cx="21031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DDDDD"/>
                </a:solidFill>
              </a:rPr>
              <a:t>Async task queue
(configured, ready)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246888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04403"/>
                </a:solidFill>
              </a:rPr>
              <a:t>REST API
(JSON + JWT)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3017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04403"/>
                </a:solidFill>
              </a:rPr>
              <a:t>──────→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233172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04040"/>
                </a:solidFill>
              </a:rPr>
              <a:t>Webhook
Payment confirm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28346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04040"/>
                </a:solidFill>
              </a:rPr>
              <a:t>←───→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6126480"/>
            <a:ext cx="11612880" cy="457200"/>
          </a:xfrm>
          <a:prstGeom prst="rect">
            <a:avLst/>
          </a:prstGeom>
          <a:solidFill>
            <a:srgbClr val="E8EEF8"/>
          </a:solidFill>
          <a:ln w="12700">
            <a:solidFill>
              <a:srgbClr val="1C3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614476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345E"/>
                </a:solidFill>
              </a:rPr>
              <a:t>Tech Stack:  Python 3 · Django 5 · Django REST Framework · SimpleJWT · Stripe SDK · PHP 8 · WordPress · Vanilla JS · HTML5 · CSS3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7432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Wallah We Can – GreenSchool E-Commerce Platform  |  Confidential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73152"/>
          </a:xfrm>
          <a:prstGeom prst="rect">
            <a:avLst/>
          </a:prstGeom>
          <a:solidFill>
            <a:srgbClr val="E04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Technical Handover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Key decisions made, files to know, and open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548640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5486400" cy="36576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53619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✅ Key Decisions Already Made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93392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345E"/>
                </a:solidFill>
              </a:rPr>
              <a:t>TND + Stripe: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942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Stripe charges in EUR only. TND customers pay via Cash on Delivery. Customer's bank handles any conversion.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52344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345E"/>
                </a:solidFill>
              </a:rPr>
              <a:t>Auth strategy: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08376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Django JWT for shop accounts. WordPress users and Django users are separate systems. Login UI is included.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11296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345E"/>
                </a:solidFill>
              </a:rPr>
              <a:t>Cart sessions: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6732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Stable session key stored in localStorage (not PHP session) — survives page reloads and browser back.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70248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345E"/>
                </a:solidFill>
              </a:rPr>
              <a:t>Billing address: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526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Captured per-order on the Order model. B2B default saved in CustomerAddress model.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29200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345E"/>
                </a:solidFill>
              </a:rPr>
              <a:t>Impact capture: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28523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Snapshot at order time — impact figures cannot be changed retroactively. Protects integrity.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788152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345E"/>
                </a:solidFill>
              </a:rPr>
              <a:t>Admin access: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04418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Admin frontend protected by API key auth — separate from customer JWT. Key configured in .env.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508760"/>
            <a:ext cx="55778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09360" y="1508760"/>
            <a:ext cx="5577840" cy="365760"/>
          </a:xfrm>
          <a:prstGeom prst="rect">
            <a:avLst/>
          </a:prstGeom>
          <a:solidFill>
            <a:srgbClr val="E04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153619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❓ Open Questions for WWC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1993392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91919"/>
                </a:solidFill>
              </a:rPr>
              <a:t>•  Hosting: VPS (Hetzner/DigitalOcean), PaaS (Railway/Render), or shared?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322576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91919"/>
                </a:solidFill>
              </a:rPr>
              <a:t>•  Media: Store product images on S3/R2 or server disk?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651760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91919"/>
                </a:solidFill>
              </a:rPr>
              <a:t>•  Email provider: SMTP credentials (Gmail, Mailgun, Brevo…)?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980944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91919"/>
                </a:solidFill>
              </a:rPr>
              <a:t>•  Auth: Keep WP + Django separate, or sync logins?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310127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91919"/>
                </a:solidFill>
              </a:rPr>
              <a:t>•  Stripe: Which account? Test mode → production switch needed.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840480"/>
            <a:ext cx="55778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309360" y="3840480"/>
            <a:ext cx="5577840" cy="36576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92240" y="386791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📁 Critical Files to Know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315968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04403"/>
                </a:solidFill>
              </a:rPr>
              <a:t>backend/.env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43159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All secrets: DB, Stripe keys, email, API key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590288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04403"/>
                </a:solidFill>
              </a:rPr>
              <a:t>backend/api/views.py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459028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All public API logic — checkout, orders, auth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864607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04403"/>
                </a:solidFill>
              </a:rPr>
              <a:t>backend/api/payments.py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80" y="4864607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Stripe webhook + order creation + emails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138927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04403"/>
                </a:solidFill>
              </a:rPr>
              <a:t>frontend/checkout.html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8280" y="5138927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Checkout UX — address tiles, payment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5413247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04403"/>
                </a:solidFill>
              </a:rPr>
              <a:t>frontend/account.html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98280" y="5413247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Customer dashboard, orders, settings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5687567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04403"/>
                </a:solidFill>
              </a:rPr>
              <a:t>frontend/admin/index.html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5687567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Admin dashboard entry point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5961887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04403"/>
                </a:solidFill>
              </a:rPr>
              <a:t>PLANNING.md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5961887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Full project status &amp; roadmap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7432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Wallah We Can – GreenSchool E-Commerce Platform  |  Confidential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3000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73152"/>
          </a:xfrm>
          <a:prstGeom prst="rect">
            <a:avLst/>
          </a:prstGeom>
          <a:solidFill>
            <a:srgbClr val="E04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Effort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Estimated developer days to complete the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32918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3291840" cy="91440"/>
          </a:xfrm>
          <a:prstGeom prst="rect">
            <a:avLst/>
          </a:prstGeom>
          <a:solidFill>
            <a:srgbClr val="E04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E04403"/>
                </a:solidFill>
              </a:rPr>
              <a:t>~27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54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04040"/>
                </a:solidFill>
              </a:rPr>
              <a:t>developer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118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91919"/>
                </a:solidFill>
              </a:rPr>
              <a:t>to complete Phase 3 &amp; 4
(all remaining features +
production hardening)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554480"/>
            <a:ext cx="32918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554480"/>
            <a:ext cx="3291840" cy="9144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79" y="182880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1C345E"/>
                </a:solidFill>
              </a:rPr>
              <a:t>~17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3154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04040"/>
                </a:solidFill>
              </a:rPr>
              <a:t>developer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79" y="36118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91919"/>
                </a:solidFill>
              </a:rPr>
              <a:t>for Phase 3 alone
(B2B, multilingual,
coupons, box builder)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0" y="1554480"/>
            <a:ext cx="32918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503920" y="1554480"/>
            <a:ext cx="3291840" cy="914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95360" y="182880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28A745"/>
                </a:solidFill>
              </a:rPr>
              <a:t>~10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154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04040"/>
                </a:solidFill>
              </a:rPr>
              <a:t>developer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6118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91919"/>
                </a:solidFill>
              </a:rPr>
              <a:t>for Phase 4 alone
(hosting, SSL, backups,
monitoring, PostgreSQL)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943600"/>
            <a:ext cx="11430000" cy="594360"/>
          </a:xfrm>
          <a:prstGeom prst="rect">
            <a:avLst/>
          </a:prstGeom>
          <a:solidFill>
            <a:srgbClr val="FFF8E1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5961888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5500"/>
                </a:solidFill>
              </a:rPr>
              <a:t>⚠️  Assumptions: Estimates assume a mid-level full-stack developer (Django + JS) with access to the codebase, .env secrets, and server credentials. Does not include time for QA / client review cycles. A senior developer could complete Phase 3 alone in 2–3 weeks.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432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Wallah We Can – GreenSchool E-Commerce Platform  | 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73152"/>
          </a:xfrm>
          <a:prstGeom prst="rect">
            <a:avLst/>
          </a:prstGeom>
          <a:solidFill>
            <a:srgbClr val="E04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Finding a Developer Partner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What to look for and what to share with candidates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54864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5486400" cy="36576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53619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✅ Must-Have Skills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93392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</a:rPr>
              <a:t>✓  Python / Django (REST API development)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40864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</a:rPr>
              <a:t>✓  JavaScript (vanilla JS — no framework needed)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88336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</a:rPr>
              <a:t>✓  HTML / CSS (responsive frontend)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35808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</a:rPr>
              <a:t>✓  Git version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83280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</a:rPr>
              <a:t>✓  Basic Linux server administration (Nginx, systemd)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30752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</a:rPr>
              <a:t>✓  Stripe integration experience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78224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</a:rPr>
              <a:t>✓  Understanding of JWT authentication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828032"/>
            <a:ext cx="54864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4828032"/>
            <a:ext cx="5486400" cy="36576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4855464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👍 Nice to Have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285232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</a:rPr>
              <a:t>○  WordPress / PHP plugin development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632704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</a:rPr>
              <a:t>○  PostgreSQL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285232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</a:rPr>
              <a:t>○  Celery / Redis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632704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</a:rPr>
              <a:t>○  Multilingual web apps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1508760"/>
            <a:ext cx="55778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09360" y="1508760"/>
            <a:ext cx="5577840" cy="365760"/>
          </a:xfrm>
          <a:prstGeom prst="rect">
            <a:avLst/>
          </a:prstGeom>
          <a:solidFill>
            <a:srgbClr val="E04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153619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📦 Share with Candidates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199339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</a:rPr>
              <a:t>📄  This presentation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322576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91919"/>
                </a:solidFill>
              </a:rPr>
              <a:t>📄  PLANNING.md (full technical roadmap)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65176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</a:rPr>
              <a:t>📄  GitHub repository access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980944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</a:rPr>
              <a:t>📄  backend/.env.example (not the real .env)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31012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</a:rPr>
              <a:t>📄  Access to staging server for testing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63931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</a:rPr>
              <a:t>📄  Stripe test mode credentials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4160520"/>
            <a:ext cx="55778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309360" y="4160520"/>
            <a:ext cx="5577840" cy="36576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92240" y="418795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❓ Questions to Ask Candidates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626864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191919"/>
                </a:solidFill>
              </a:rPr>
              <a:t>?  Have you built Django REST APIs before? Share examples.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96519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91919"/>
                </a:solidFill>
              </a:rPr>
              <a:t>?  How do you handle Stripe webhook security?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53035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91919"/>
                </a:solidFill>
              </a:rPr>
              <a:t>?  Can you show a multilingual Django project?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64184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91919"/>
                </a:solidFill>
              </a:rPr>
              <a:t>?  What is your approach to production deployment?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5980175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91919"/>
                </a:solidFill>
              </a:rPr>
              <a:t>?  Do you have experience with impact/social-sector projects?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7432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Wallah We Can – GreenSchool E-Commerce Platform  |  Confidential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73152"/>
          </a:xfrm>
          <a:prstGeom prst="rect">
            <a:avLst/>
          </a:prstGeom>
          <a:solidFill>
            <a:srgbClr val="E04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Recommended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Immediate actions — in priority order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11612880" cy="21396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109728" cy="2139696"/>
          </a:xfrm>
          <a:prstGeom prst="rect">
            <a:avLst/>
          </a:prstGeom>
          <a:solidFill>
            <a:srgbClr val="E04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572768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4403"/>
                </a:solidFill>
              </a:rPr>
              <a:t>🔴  This Week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</a:rPr>
              <a:t>▸  Decide on hosting provider (VPS recommendation: Hetzner CX22 ~€4/month or Railway.app for easier setup)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59152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</a:rPr>
              <a:t>▸  Confirm SMTP email credentials for order notifications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98064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</a:rPr>
              <a:t>▸  Confirm Stripe account — switch from test mode keys to live production keys in .env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36976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</a:rPr>
              <a:t>▸  Register Stripe webhook endpoint once server is up (takes 10 minutes)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39896"/>
            <a:ext cx="11612880" cy="21396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20" y="3739896"/>
            <a:ext cx="109728" cy="2139696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3803904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345E"/>
                </a:solidFill>
              </a:rPr>
              <a:t>🟡  Before Go-Live (Phase 2 completion)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51376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</a:rPr>
              <a:t>▸  Run the platform on a staging server and do a full end-to-end test: browse → cart → checkout → email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9028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</a:rPr>
              <a:t>▸  Complete email verification flow (prevents spam accounts)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2920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</a:rPr>
              <a:t>▸  Decide on Composable Box builder priority — is 'Build My Box' needed at launch or can it wait?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468112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</a:rPr>
              <a:t>▸  Mobile responsiveness audit on checkout and product pages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971031"/>
            <a:ext cx="11612880" cy="21396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4320" y="5971031"/>
            <a:ext cx="109728" cy="2139696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6035040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8A745"/>
                </a:solidFill>
              </a:rPr>
              <a:t>🟢  After Go-Live (Phase 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382512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</a:rPr>
              <a:t>▸  Multilingual UI — critical for reaching Arabic and English-speaking customers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821423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</a:rPr>
              <a:t>▸  B2B registration flow — important for the corporate gifts (CADEAUX D'ENTREPRISE) category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7260336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</a:rPr>
              <a:t>▸  Coupon/promotional codes — useful for launch campaigns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769924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</a:rPr>
              <a:t>▸  Google Analytics 4 setup — understand customer behaviour from day one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7432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Wallah We Can – GreenSchool E-Commerce Platform  | 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73152"/>
          </a:xfrm>
          <a:prstGeom prst="rect">
            <a:avLst/>
          </a:prstGeom>
          <a:solidFill>
            <a:srgbClr val="E04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You Already Have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A summary of assets ready to hand to a developer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3749039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3749039" cy="384048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79" y="157276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Backend Assets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993392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 b="0">
                <a:solidFill>
                  <a:srgbClr val="404040"/>
                </a:solidFill>
              </a:rPr>
              <a:t>✓  Complete Django 5 project (production-grade structure)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404040"/>
                </a:solidFill>
              </a:rPr>
              <a:t>✓  14 database models + all migrations written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404040"/>
                </a:solidFill>
              </a:rPr>
              <a:t>✓  60+ API endpoints (products, orders, customers, payments, admin)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404040"/>
                </a:solidFill>
              </a:rPr>
              <a:t>✓  JWT authentication system fully wired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404040"/>
                </a:solidFill>
              </a:rPr>
              <a:t>✓  Stripe Checkout + webhook integration complete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404040"/>
                </a:solidFill>
              </a:rPr>
              <a:t>✓  Order confirmation + shipping notification emails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404040"/>
                </a:solidFill>
              </a:rPr>
              <a:t>✓  Stock management with automatic restore on cancellation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404040"/>
                </a:solidFill>
              </a:rPr>
              <a:t>✓  Admin API with API key protection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404040"/>
                </a:solidFill>
              </a:rPr>
              <a:t>✓  Sample data population commands for testing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404040"/>
                </a:solidFill>
              </a:rPr>
              <a:t>✓  .env.example documenting every required variable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508760"/>
            <a:ext cx="3749039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51959" y="1508760"/>
            <a:ext cx="3749039" cy="384048"/>
          </a:xfrm>
          <a:prstGeom prst="rect">
            <a:avLst/>
          </a:prstGeom>
          <a:solidFill>
            <a:srgbClr val="E04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57276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Frontend Assets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993392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 b="0">
                <a:solidFill>
                  <a:srgbClr val="404040"/>
                </a:solidFill>
              </a:rPr>
              <a:t>✓  Product catalogue page (search, filter, pagination)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404040"/>
                </a:solidFill>
              </a:rPr>
              <a:t>✓  Product detail page (images, reviews, impact, add-to-cart)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404040"/>
                </a:solidFill>
              </a:rPr>
              <a:t>✓  Shopping cart (guest + logged-in, live totals)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404040"/>
                </a:solidFill>
              </a:rPr>
              <a:t>✓  Checkout (smart address tiles, billing, Stripe + COD)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404040"/>
                </a:solidFill>
              </a:rPr>
              <a:t>✓  Order success + order detail pages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404040"/>
                </a:solidFill>
              </a:rPr>
              <a:t>✓  Customer account (orders, wishlist, impact dashboard)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404040"/>
                </a:solidFill>
              </a:rPr>
              <a:t>✓  Account settings (profile, address, password, preferences)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404040"/>
                </a:solidFill>
              </a:rPr>
              <a:t>✓  Login + Register + Password Reset pages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404040"/>
                </a:solidFill>
              </a:rPr>
              <a:t>✓  Admin dashboard (products, orders, customers, donations)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404040"/>
                </a:solidFill>
              </a:rPr>
              <a:t>✓  Impact + Donate public pages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508760"/>
            <a:ext cx="3749039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1508760"/>
            <a:ext cx="3749039" cy="38404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157276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Documentation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993392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 b="0">
                <a:solidFill>
                  <a:srgbClr val="404040"/>
                </a:solidFill>
              </a:rPr>
              <a:t>✓  PLANNING.md — complete technical roadmap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404040"/>
                </a:solidFill>
              </a:rPr>
              <a:t>✓  This presentation — non-technical overview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404040"/>
                </a:solidFill>
              </a:rPr>
              <a:t>✓  All code commented and structured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404040"/>
                </a:solidFill>
              </a:rPr>
              <a:t>✓  API endpoint list in urls.py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404040"/>
                </a:solidFill>
              </a:rPr>
              <a:t>✓  Inline code comments throughout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404040"/>
                </a:solidFill>
              </a:rPr>
              <a:t> 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1C345E"/>
                </a:solidFill>
              </a:rPr>
              <a:t>WordPress Plugin Assets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404040"/>
                </a:solidFill>
              </a:rPr>
              <a:t>✓  Full WP plugin with all shortcodes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404040"/>
                </a:solidFill>
              </a:rPr>
              <a:t>✓  API client class (caching, auth, all resources)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404040"/>
                </a:solidFill>
              </a:rPr>
              <a:t>✓  Cart, checkout, auth PHP classes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432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Wallah We Can – GreenSchool E-Commerce Platform  | 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12188952" cy="109728"/>
          </a:xfrm>
          <a:prstGeom prst="rect">
            <a:avLst/>
          </a:prstGeom>
          <a:solidFill>
            <a:srgbClr val="E04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0" i="0">
                <a:solidFill>
                  <a:srgbClr val="FFFFFF"/>
                </a:solidFill>
              </a:rPr>
              <a:t>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1">
                <a:solidFill>
                  <a:srgbClr val="E04403"/>
                </a:solidFill>
              </a:rPr>
              <a:t>Every purchase plants a seed.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1">
                <a:solidFill>
                  <a:srgbClr val="FFFFFF"/>
                </a:solidFill>
              </a:rPr>
              <a:t>Every seed feeds a student.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CCCC"/>
                </a:solidFill>
              </a:rPr>
              <a:t>The platform is ready. The mission continues.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4340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9999"/>
                </a:solidFill>
              </a:rPr>
              <a:t>Platform Repository:  GitHub — wwc_web_new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82312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9999"/>
                </a:solidFill>
              </a:rPr>
              <a:t>Technical Documentation:  PLANNING.md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221224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9999"/>
                </a:solidFill>
              </a:rPr>
              <a:t>Contact for handover:  [your contact here]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Wallah We Can  ·  GreenSchool Initiative  · 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C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Wallah We Can – GreenSchool E-Commerce Platform  |  Confidential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3909</Words>
  <Application>Microsoft Office PowerPoint</Application>
  <PresentationFormat>Personnalisé</PresentationFormat>
  <Paragraphs>584</Paragraphs>
  <Slides>20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Shengjun WU (BFR)</cp:lastModifiedBy>
  <cp:revision>1</cp:revision>
  <dcterms:created xsi:type="dcterms:W3CDTF">2013-01-27T09:14:16Z</dcterms:created>
  <dcterms:modified xsi:type="dcterms:W3CDTF">2026-03-22T22:39:03Z</dcterms:modified>
  <cp:category/>
</cp:coreProperties>
</file>